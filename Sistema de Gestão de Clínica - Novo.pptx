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Inter SemiBold"/>
      <p:regular r:id="rId16"/>
      <p:bold r:id="rId17"/>
      <p:italic r:id="rId18"/>
      <p:boldItalic r:id="rId19"/>
    </p:embeddedFont>
    <p:embeddedFont>
      <p:font typeface="Inter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  <p:embeddedFont>
      <p:font typeface="Poppins SemiBold"/>
      <p:regular r:id="rId28"/>
      <p:bold r:id="rId29"/>
      <p:italic r:id="rId30"/>
      <p:boldItalic r:id="rId31"/>
    </p:embeddedFont>
    <p:embeddedFont>
      <p:font typeface="Poppins ExtraBold"/>
      <p:bold r:id="rId32"/>
      <p:boldItalic r:id="rId33"/>
    </p:embeddedFont>
    <p:embeddedFont>
      <p:font typeface="Inter Medium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4CD6048-BEF6-454F-9670-892B7CA0AAAA}">
  <a:tblStyle styleId="{34CD6048-BEF6-454F-9670-892B7CA0AAA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regular.fntdata"/><Relationship Id="rId22" Type="http://schemas.openxmlformats.org/officeDocument/2006/relationships/font" Target="fonts/Inter-italic.fntdata"/><Relationship Id="rId21" Type="http://schemas.openxmlformats.org/officeDocument/2006/relationships/font" Target="fonts/Inter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PoppinsSemiBold-regular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boldItalic.fntdata"/><Relationship Id="rId30" Type="http://schemas.openxmlformats.org/officeDocument/2006/relationships/font" Target="fonts/PoppinsSemiBold-italic.fntdata"/><Relationship Id="rId11" Type="http://schemas.openxmlformats.org/officeDocument/2006/relationships/slide" Target="slides/slide5.xml"/><Relationship Id="rId33" Type="http://schemas.openxmlformats.org/officeDocument/2006/relationships/font" Target="fonts/PoppinsExtraBold-boldItalic.fntdata"/><Relationship Id="rId10" Type="http://schemas.openxmlformats.org/officeDocument/2006/relationships/slide" Target="slides/slide4.xml"/><Relationship Id="rId32" Type="http://schemas.openxmlformats.org/officeDocument/2006/relationships/font" Target="fonts/PoppinsExtraBold-bold.fntdata"/><Relationship Id="rId13" Type="http://schemas.openxmlformats.org/officeDocument/2006/relationships/slide" Target="slides/slide7.xml"/><Relationship Id="rId35" Type="http://schemas.openxmlformats.org/officeDocument/2006/relationships/font" Target="fonts/InterMedium-bold.fntdata"/><Relationship Id="rId12" Type="http://schemas.openxmlformats.org/officeDocument/2006/relationships/slide" Target="slides/slide6.xml"/><Relationship Id="rId34" Type="http://schemas.openxmlformats.org/officeDocument/2006/relationships/font" Target="fonts/InterMedium-regular.fntdata"/><Relationship Id="rId15" Type="http://schemas.openxmlformats.org/officeDocument/2006/relationships/slide" Target="slides/slide9.xml"/><Relationship Id="rId37" Type="http://schemas.openxmlformats.org/officeDocument/2006/relationships/font" Target="fonts/InterMedium-boldItalic.fntdata"/><Relationship Id="rId14" Type="http://schemas.openxmlformats.org/officeDocument/2006/relationships/slide" Target="slides/slide8.xml"/><Relationship Id="rId36" Type="http://schemas.openxmlformats.org/officeDocument/2006/relationships/font" Target="fonts/InterMedium-italic.fntdata"/><Relationship Id="rId17" Type="http://schemas.openxmlformats.org/officeDocument/2006/relationships/font" Target="fonts/InterSemiBold-bold.fntdata"/><Relationship Id="rId16" Type="http://schemas.openxmlformats.org/officeDocument/2006/relationships/font" Target="fonts/InterSemiBold-regular.fntdata"/><Relationship Id="rId19" Type="http://schemas.openxmlformats.org/officeDocument/2006/relationships/font" Target="fonts/InterSemiBold-boldItalic.fntdata"/><Relationship Id="rId18" Type="http://schemas.openxmlformats.org/officeDocument/2006/relationships/font" Target="fonts/Inter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9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18.png"/><Relationship Id="rId13" Type="http://schemas.openxmlformats.org/officeDocument/2006/relationships/image" Target="../media/image21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9" Type="http://schemas.openxmlformats.org/officeDocument/2006/relationships/image" Target="../media/image11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Relationship Id="rId5" Type="http://schemas.openxmlformats.org/officeDocument/2006/relationships/image" Target="../media/image31.png"/><Relationship Id="rId6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7.png"/><Relationship Id="rId7" Type="http://schemas.openxmlformats.org/officeDocument/2006/relationships/image" Target="../media/image36.png"/><Relationship Id="rId8" Type="http://schemas.openxmlformats.org/officeDocument/2006/relationships/image" Target="../media/image3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9.png"/><Relationship Id="rId9" Type="http://schemas.openxmlformats.org/officeDocument/2006/relationships/image" Target="../media/image11.png"/><Relationship Id="rId5" Type="http://schemas.openxmlformats.org/officeDocument/2006/relationships/image" Target="../media/image41.png"/><Relationship Id="rId6" Type="http://schemas.openxmlformats.org/officeDocument/2006/relationships/image" Target="../media/image40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1625" y="3905250"/>
            <a:ext cx="9048750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875" y="2447925"/>
            <a:ext cx="1104809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SISTEMA DE GESTÃO PARA CLÍNICA MÉDICA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094607" y="3209925"/>
            <a:ext cx="80027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Solução estruturada de software para otimização de atendimentos e gestão em saúde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99991" y="1971675"/>
            <a:ext cx="5192017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705451" y="4124325"/>
            <a:ext cx="878109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INTEGRANTES DO PROJETO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914525" y="4410075"/>
            <a:ext cx="836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Cauã Diniz • Eduardo Victor • Isabella Saboia • Lucca Peres • Luis Eduardo • Moisés Cunha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4905375"/>
            <a:ext cx="11125200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1638300"/>
            <a:ext cx="5443537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1638300"/>
            <a:ext cx="5443537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55166" y="438150"/>
            <a:ext cx="11336833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Problemas &amp; Impactos Clínicos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33400" y="904875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533400" y="6267450"/>
            <a:ext cx="11125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Sistema de Gestão de Clínica | Diagnóstico de Problemas</a:t>
            </a:r>
            <a:endParaRPr/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3400" y="481012"/>
            <a:ext cx="207466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762000" y="5057775"/>
            <a:ext cx="107061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Nota Gerencial:</a:t>
            </a:r>
            <a:r>
              <a:rPr b="0" i="0" lang="en-US" sz="12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A ausência de um sistema integrado gera retrabalho receptivo, reduz o tempo efetivo de consulta e expõe a clínica a riscos com a LGPD e o Conselho Federal de Medicina.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1862137"/>
            <a:ext cx="16311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1096576" y="1857375"/>
            <a:ext cx="341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Gargalos Operacionais da Clínica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085850" y="2171700"/>
            <a:ext cx="463391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Agendamento Disperso: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Controle em papel e planilhas com choques de horário.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85850" y="2752725"/>
            <a:ext cx="463391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Alto No-Show: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Faltas frequentes por ausência de lembretes automáticos.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085850" y="3333750"/>
            <a:ext cx="463391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Prontuários Físicos: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Dificuldade de acesso, busca lenta e risco de perda.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085850" y="3914775"/>
            <a:ext cx="463391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Filas na Recepção: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Demora na triagem e na validação de convênios/guias.</a:t>
            </a:r>
            <a:endParaRPr/>
          </a:p>
        </p:txBody>
      </p:sp>
      <p:pic>
        <p:nvPicPr>
          <p:cNvPr descr="image.png" id="110" name="Google Shape;11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00812" y="1862137"/>
            <a:ext cx="16311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6778228" y="1857375"/>
            <a:ext cx="292364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Impactos Diretos nos Serviços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767512" y="2171700"/>
            <a:ext cx="463391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Tempo Médico Ocioso: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Horários vagos não reutilizados por cancelamentos tardios.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767512" y="2752725"/>
            <a:ext cx="463391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Experiência do Paciente: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Atrasos frequentes e insatisfação na sala de espera.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767512" y="3333750"/>
            <a:ext cx="463391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Faturamento &amp; Convênios: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Glosas médicas e falta de previsão financeira.</a:t>
            </a:r>
            <a:endParaRPr/>
          </a:p>
        </p:txBody>
      </p:sp>
      <p:pic>
        <p:nvPicPr>
          <p:cNvPr descr="image.png" id="115" name="Google Shape;115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9150" y="2190750"/>
            <a:ext cx="111174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9150" y="2771775"/>
            <a:ext cx="111174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9150" y="3352800"/>
            <a:ext cx="111174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19150" y="3933825"/>
            <a:ext cx="111174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00812" y="2190750"/>
            <a:ext cx="111174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00812" y="2771775"/>
            <a:ext cx="111174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00812" y="3352800"/>
            <a:ext cx="111174" cy="16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643062"/>
            <a:ext cx="1112520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981075" y="438150"/>
            <a:ext cx="112109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Stakeholders &amp; Papel do Analista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533400" y="1009650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533400" y="6257925"/>
            <a:ext cx="11125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Sistema de Gestão de Clínica | Mapeamento de Stakeholders</a:t>
            </a:r>
            <a:endParaRPr/>
          </a:p>
        </p:txBody>
      </p:sp>
      <p:pic>
        <p:nvPicPr>
          <p:cNvPr descr="image.png" id="131" name="Google Shape;13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33400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533400" y="2995612"/>
            <a:ext cx="11125200" cy="2790825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3" name="Google Shape;133;p15"/>
          <p:cNvGraphicFramePr/>
          <p:nvPr/>
        </p:nvGraphicFramePr>
        <p:xfrm>
          <a:off x="533400" y="29956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{34CD6048-BEF6-454F-9670-892B7CA0AAAA}</a:tableStyleId>
              </a:tblPr>
              <a:tblGrid>
                <a:gridCol w="1397950"/>
                <a:gridCol w="2468900"/>
                <a:gridCol w="3291925"/>
                <a:gridCol w="3966425"/>
              </a:tblGrid>
              <a:tr h="46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Papel / Nível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Stakeholder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Interesse Principal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Responsabilidade Chave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6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Diretoria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7D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Diretor Médico / Gestor</a:t>
                      </a:r>
                      <a:endParaRPr>
                        <a:solidFill>
                          <a:srgbClr val="4A7DB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7D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Sustentabilidade e reputação da clínica</a:t>
                      </a:r>
                      <a:endParaRPr>
                        <a:solidFill>
                          <a:srgbClr val="4A7DB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7D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Aprovar orçamento e diretrizes do sistema</a:t>
                      </a:r>
                      <a:endParaRPr>
                        <a:solidFill>
                          <a:srgbClr val="4A7DB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Corpo Clínico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7D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Médicos / Especialistas</a:t>
                      </a:r>
                      <a:endParaRPr>
                        <a:solidFill>
                          <a:srgbClr val="4A7DB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7D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Prontuário ágil e histórico completo</a:t>
                      </a:r>
                      <a:endParaRPr>
                        <a:solidFill>
                          <a:srgbClr val="4A7DB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7D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Registro técnico de consultas e diagnósticos</a:t>
                      </a:r>
                      <a:endParaRPr>
                        <a:solidFill>
                          <a:srgbClr val="4A7DB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Operacional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7D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Recepcionistas / Secretárias</a:t>
                      </a:r>
                      <a:endParaRPr>
                        <a:solidFill>
                          <a:srgbClr val="4A7DB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7D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Agendamento fluido e recepção rápida</a:t>
                      </a:r>
                      <a:endParaRPr>
                        <a:solidFill>
                          <a:srgbClr val="4A7DB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7D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Cadastrar pacientes e gerenciar salas de espera</a:t>
                      </a:r>
                      <a:endParaRPr>
                        <a:solidFill>
                          <a:srgbClr val="4A7DB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Cliente Final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7D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Pacientes</a:t>
                      </a:r>
                      <a:endParaRPr>
                        <a:solidFill>
                          <a:srgbClr val="4A7DB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7D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Praticidade ao agendar e pontualidade</a:t>
                      </a:r>
                      <a:endParaRPr>
                        <a:solidFill>
                          <a:srgbClr val="4A7DB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7D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Fornecer dados cadastrais e comparecer</a:t>
                      </a:r>
                      <a:endParaRPr>
                        <a:solidFill>
                          <a:srgbClr val="4A7DB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5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Facilitador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7D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Analista de Negócios</a:t>
                      </a:r>
                      <a:endParaRPr>
                        <a:solidFill>
                          <a:srgbClr val="4A7DB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7D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Traduzir rotinas médicas em requisitos</a:t>
                      </a:r>
                      <a:endParaRPr>
                        <a:solidFill>
                          <a:srgbClr val="4A7DB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A7DB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Especificar, modelar e validar a solução</a:t>
                      </a:r>
                      <a:endParaRPr>
                        <a:solidFill>
                          <a:srgbClr val="4A7DBA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4" name="Google Shape;134;p15"/>
          <p:cNvSpPr txBox="1"/>
          <p:nvPr/>
        </p:nvSpPr>
        <p:spPr>
          <a:xfrm>
            <a:off x="790575" y="1862137"/>
            <a:ext cx="1114139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Ciclo de Engenharia de Requisitos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533400" y="3448050"/>
            <a:ext cx="13979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1931342" y="3448050"/>
            <a:ext cx="24689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4400252" y="3448050"/>
            <a:ext cx="329192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7692181" y="3448050"/>
            <a:ext cx="396641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9" name="Google Shape;13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0575" y="1909762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0575" y="2290762"/>
            <a:ext cx="1450478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17253" y="2290762"/>
            <a:ext cx="1450478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43932" y="2290762"/>
            <a:ext cx="1450478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70611" y="2290762"/>
            <a:ext cx="1450478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897290" y="2290762"/>
            <a:ext cx="1450478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23969" y="2290762"/>
            <a:ext cx="1450478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950648" y="2290762"/>
            <a:ext cx="1450478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/>
          <p:nvPr/>
        </p:nvSpPr>
        <p:spPr>
          <a:xfrm>
            <a:off x="533400" y="3914775"/>
            <a:ext cx="13979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1931342" y="3914775"/>
            <a:ext cx="24689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4400252" y="3914775"/>
            <a:ext cx="329192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7692181" y="3914775"/>
            <a:ext cx="396641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533400" y="4381500"/>
            <a:ext cx="13979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1931342" y="4381500"/>
            <a:ext cx="24689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4400252" y="4381500"/>
            <a:ext cx="329192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7692181" y="4381500"/>
            <a:ext cx="396641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533400" y="4848225"/>
            <a:ext cx="13979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1931342" y="4848225"/>
            <a:ext cx="24689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4400252" y="4848225"/>
            <a:ext cx="329192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7692181" y="4848225"/>
            <a:ext cx="396641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533400" y="5314950"/>
            <a:ext cx="139794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1931342" y="5314950"/>
            <a:ext cx="24689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4400252" y="5314950"/>
            <a:ext cx="329192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7692181" y="5314950"/>
            <a:ext cx="396641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959768"/>
            <a:ext cx="5443537" cy="3414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1959768"/>
            <a:ext cx="5443537" cy="341471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 txBox="1"/>
          <p:nvPr/>
        </p:nvSpPr>
        <p:spPr>
          <a:xfrm>
            <a:off x="855166" y="438150"/>
            <a:ext cx="11336833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Business Needs &amp; Elicitação</a:t>
            </a:r>
            <a:endParaRPr/>
          </a:p>
        </p:txBody>
      </p:sp>
      <p:sp>
        <p:nvSpPr>
          <p:cNvPr id="171" name="Google Shape;171;p16"/>
          <p:cNvSpPr/>
          <p:nvPr/>
        </p:nvSpPr>
        <p:spPr>
          <a:xfrm>
            <a:off x="533400" y="904875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533400" y="6267450"/>
            <a:ext cx="11125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Sistema de Gestão de Clínica | Elicitação BABOK</a:t>
            </a:r>
            <a:endParaRPr/>
          </a:p>
        </p:txBody>
      </p:sp>
      <p:pic>
        <p:nvPicPr>
          <p:cNvPr descr="image.png" id="173" name="Google Shape;17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481012"/>
            <a:ext cx="20746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0575" y="2183606"/>
            <a:ext cx="16311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 txBox="1"/>
          <p:nvPr/>
        </p:nvSpPr>
        <p:spPr>
          <a:xfrm>
            <a:off x="1067990" y="2178843"/>
            <a:ext cx="233482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Necessidades da Clínica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1057275" y="2493168"/>
            <a:ext cx="46624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Agendamento Unificado: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Grade médica centralizada e sem sobramarcação.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1057275" y="3074193"/>
            <a:ext cx="46624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Redução do No-Show: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Confirmação e lembretes via WhatsApp/SMS.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1057275" y="3655218"/>
            <a:ext cx="46624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Prontuário Eletrônico (PEP):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Histórico médico seguro e acessível.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1057275" y="4236243"/>
            <a:ext cx="4662487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Gestão de Convênios: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Emissão simplificada de guias TISS.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1057275" y="4574381"/>
            <a:ext cx="4662487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Triagem de Espera: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Controle do fluxo recepção-consultório.</a:t>
            </a:r>
            <a:endParaRPr/>
          </a:p>
        </p:txBody>
      </p:sp>
      <p:pic>
        <p:nvPicPr>
          <p:cNvPr descr="image.png" id="181" name="Google Shape;18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72237" y="2183606"/>
            <a:ext cx="16311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6"/>
          <p:cNvSpPr txBox="1"/>
          <p:nvPr/>
        </p:nvSpPr>
        <p:spPr>
          <a:xfrm>
            <a:off x="6749653" y="2178843"/>
            <a:ext cx="312773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Técnicas de Elicitação Aplicadas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6738937" y="2493168"/>
            <a:ext cx="46624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Entrevistas: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Entendimento das rotinas de médicos e secretárias.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6738937" y="3074193"/>
            <a:ext cx="46624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Observação Direta: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Acompanhamento do atendimento presencial.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6738937" y="3655218"/>
            <a:ext cx="4662487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Workshops: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Alinhamento entre médicos e gestores para o PEP.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6738937" y="3993356"/>
            <a:ext cx="46624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Análise Documental: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Análise de fichas físicas, receitas e guias TISS.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6738937" y="4574381"/>
            <a:ext cx="46624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Questionários: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Mapeamento do tempo de espera dos pacientes.</a:t>
            </a:r>
            <a:endParaRPr/>
          </a:p>
        </p:txBody>
      </p:sp>
      <p:pic>
        <p:nvPicPr>
          <p:cNvPr descr="image.png" id="188" name="Google Shape;18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0575" y="2512218"/>
            <a:ext cx="111174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0575" y="3093243"/>
            <a:ext cx="111174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0575" y="3674268"/>
            <a:ext cx="111174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0575" y="4255293"/>
            <a:ext cx="111174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0575" y="4593431"/>
            <a:ext cx="111174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72237" y="2512218"/>
            <a:ext cx="111174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72237" y="3093243"/>
            <a:ext cx="111174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72237" y="3674268"/>
            <a:ext cx="111174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72237" y="4012406"/>
            <a:ext cx="111174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72237" y="4593431"/>
            <a:ext cx="111174" cy="16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1776412"/>
            <a:ext cx="5443537" cy="3876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1776412"/>
            <a:ext cx="5443537" cy="3876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7"/>
          <p:cNvSpPr txBox="1"/>
          <p:nvPr/>
        </p:nvSpPr>
        <p:spPr>
          <a:xfrm>
            <a:off x="914400" y="438150"/>
            <a:ext cx="11277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Especificação de Requisitos</a:t>
            </a:r>
            <a:endParaRPr/>
          </a:p>
        </p:txBody>
      </p:sp>
      <p:sp>
        <p:nvSpPr>
          <p:cNvPr id="206" name="Google Shape;206;p17"/>
          <p:cNvSpPr/>
          <p:nvPr/>
        </p:nvSpPr>
        <p:spPr>
          <a:xfrm>
            <a:off x="533400" y="1009650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533400" y="6257925"/>
            <a:ext cx="11125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Sistema de Gestão de Clínica | Requisitos Funcionais</a:t>
            </a:r>
            <a:endParaRPr/>
          </a:p>
        </p:txBody>
      </p:sp>
      <p:pic>
        <p:nvPicPr>
          <p:cNvPr descr="image.png" id="208" name="Google Shape;20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5334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7"/>
          <p:cNvSpPr txBox="1"/>
          <p:nvPr/>
        </p:nvSpPr>
        <p:spPr>
          <a:xfrm>
            <a:off x="790575" y="1995487"/>
            <a:ext cx="517564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Módulo 01: Recepção &amp; Agendamento</a:t>
            </a:r>
            <a:endParaRPr/>
          </a:p>
        </p:txBody>
      </p:sp>
      <p:sp>
        <p:nvSpPr>
          <p:cNvPr id="210" name="Google Shape;210;p17"/>
          <p:cNvSpPr/>
          <p:nvPr/>
        </p:nvSpPr>
        <p:spPr>
          <a:xfrm>
            <a:off x="790575" y="2347912"/>
            <a:ext cx="49291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 txBox="1"/>
          <p:nvPr/>
        </p:nvSpPr>
        <p:spPr>
          <a:xfrm>
            <a:off x="6472237" y="1995487"/>
            <a:ext cx="5175646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Módulo 02: Atendimento Médico &amp; Gestão</a:t>
            </a:r>
            <a:endParaRPr/>
          </a:p>
        </p:txBody>
      </p:sp>
      <p:sp>
        <p:nvSpPr>
          <p:cNvPr id="212" name="Google Shape;212;p17"/>
          <p:cNvSpPr/>
          <p:nvPr/>
        </p:nvSpPr>
        <p:spPr>
          <a:xfrm>
            <a:off x="6472237" y="2347912"/>
            <a:ext cx="49291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 txBox="1"/>
          <p:nvPr/>
        </p:nvSpPr>
        <p:spPr>
          <a:xfrm>
            <a:off x="1057275" y="2528887"/>
            <a:ext cx="46624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RF01 - Cadastro de Pacientes: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Registro de dados, contatos e plano de saúde.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1057275" y="3109912"/>
            <a:ext cx="46624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RF02 - Agenda Médica: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Marcação, remarcação e encaixes por médico.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1057275" y="3690937"/>
            <a:ext cx="46624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RF03 - Confirmação Automática: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Disparo de lembretes via WhatsApp.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1057275" y="4271962"/>
            <a:ext cx="46624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RF04 - Controle de Espera: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Chamada de pacientes para a sala médica.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1057275" y="4852987"/>
            <a:ext cx="46624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RF05 - Gestão de Guias: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Validação de autorizações de convênio.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6738937" y="2528887"/>
            <a:ext cx="46624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RF06 - Prontuário Eletrônico: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Anamnese, diagnóstico e histórico clínico.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6738937" y="3109912"/>
            <a:ext cx="46624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RF07 - Prescrição Digital: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Emissão de receitas e atestados com assinatura.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6738937" y="3690937"/>
            <a:ext cx="46624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RF08 - Anexo de Exames: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Upload de laudos e exames em PDF/imagem.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6738937" y="4271962"/>
            <a:ext cx="46624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RF09 - Faturamento: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Apuração de consultas e repasse aos médicos.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6738937" y="4852987"/>
            <a:ext cx="46624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RF10 - Indicadores: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Dashboards de ocupação, faltas e receita.</a:t>
            </a:r>
            <a:endParaRPr/>
          </a:p>
        </p:txBody>
      </p:sp>
      <p:pic>
        <p:nvPicPr>
          <p:cNvPr descr="image.png" id="223" name="Google Shape;22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0575" y="2547937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0575" y="3128962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0575" y="3709987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0575" y="4291012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0575" y="4872037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72237" y="2547937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72237" y="3128962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72237" y="3709987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72237" y="4291012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72237" y="4872037"/>
            <a:ext cx="1238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000" y="1850575"/>
            <a:ext cx="5729600" cy="3746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8"/>
          <p:cNvSpPr txBox="1"/>
          <p:nvPr/>
        </p:nvSpPr>
        <p:spPr>
          <a:xfrm>
            <a:off x="855166" y="438150"/>
            <a:ext cx="11336833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Requisitos Não Funcionais &amp; RN</a:t>
            </a:r>
            <a:endParaRPr/>
          </a:p>
        </p:txBody>
      </p:sp>
      <p:sp>
        <p:nvSpPr>
          <p:cNvPr id="240" name="Google Shape;240;p18"/>
          <p:cNvSpPr/>
          <p:nvPr/>
        </p:nvSpPr>
        <p:spPr>
          <a:xfrm>
            <a:off x="533400" y="904875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1" name="Google Shape;24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481012"/>
            <a:ext cx="20746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0575" y="3686175"/>
            <a:ext cx="163115" cy="20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3740943"/>
            <a:ext cx="1112520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2050256"/>
            <a:ext cx="3581400" cy="1500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05300" y="2050256"/>
            <a:ext cx="3581400" cy="1500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77200" y="2050256"/>
            <a:ext cx="3581400" cy="1500187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9"/>
          <p:cNvSpPr txBox="1"/>
          <p:nvPr/>
        </p:nvSpPr>
        <p:spPr>
          <a:xfrm>
            <a:off x="952500" y="438150"/>
            <a:ext cx="11239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Priorização do MVP Clínico</a:t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533400" y="1009650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 txBox="1"/>
          <p:nvPr/>
        </p:nvSpPr>
        <p:spPr>
          <a:xfrm>
            <a:off x="533400" y="6257925"/>
            <a:ext cx="11125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Sistema de Gestão de Clínica | Qualidade de Requisitos</a:t>
            </a:r>
            <a:endParaRPr/>
          </a:p>
        </p:txBody>
      </p:sp>
      <p:pic>
        <p:nvPicPr>
          <p:cNvPr descr="image.png" id="255" name="Google Shape;25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3400" y="533400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9"/>
          <p:cNvSpPr txBox="1"/>
          <p:nvPr/>
        </p:nvSpPr>
        <p:spPr>
          <a:xfrm>
            <a:off x="790575" y="3960018"/>
            <a:ext cx="1114139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Eliminação de Ambiguidades de Requisitos</a:t>
            </a:r>
            <a:endParaRPr/>
          </a:p>
        </p:txBody>
      </p:sp>
      <p:sp>
        <p:nvSpPr>
          <p:cNvPr id="257" name="Google Shape;257;p19"/>
          <p:cNvSpPr txBox="1"/>
          <p:nvPr/>
        </p:nvSpPr>
        <p:spPr>
          <a:xfrm>
            <a:off x="790575" y="2297906"/>
            <a:ext cx="322040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4D399"/>
                </a:solidFill>
                <a:latin typeface="Poppins"/>
                <a:ea typeface="Poppins"/>
                <a:cs typeface="Poppins"/>
                <a:sym typeface="Poppins"/>
              </a:rPr>
              <a:t>Alta Prioridade (MVP)</a:t>
            </a:r>
            <a:endParaRPr/>
          </a:p>
        </p:txBody>
      </p:sp>
      <p:sp>
        <p:nvSpPr>
          <p:cNvPr id="258" name="Google Shape;258;p19"/>
          <p:cNvSpPr txBox="1"/>
          <p:nvPr/>
        </p:nvSpPr>
        <p:spPr>
          <a:xfrm>
            <a:off x="790575" y="2688431"/>
            <a:ext cx="30670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RF01-RF07, RNF (LGPD/CFM/Usabilidade) e RN01-RN05. Foco em Agendamento, Lembrete e Prontuário Básico.</a:t>
            </a:r>
            <a:endParaRPr/>
          </a:p>
        </p:txBody>
      </p:sp>
      <p:sp>
        <p:nvSpPr>
          <p:cNvPr id="259" name="Google Shape;259;p19"/>
          <p:cNvSpPr txBox="1"/>
          <p:nvPr/>
        </p:nvSpPr>
        <p:spPr>
          <a:xfrm>
            <a:off x="4562475" y="2297906"/>
            <a:ext cx="322040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Média Prioridade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4562475" y="2688431"/>
            <a:ext cx="30670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RF08-RF09. Anexo de laudos em PDF/imagem e módulo de faturamento com repasse médico.</a:t>
            </a:r>
            <a:endParaRPr/>
          </a:p>
        </p:txBody>
      </p:sp>
      <p:sp>
        <p:nvSpPr>
          <p:cNvPr id="261" name="Google Shape;261;p19"/>
          <p:cNvSpPr txBox="1"/>
          <p:nvPr/>
        </p:nvSpPr>
        <p:spPr>
          <a:xfrm>
            <a:off x="8334375" y="2297906"/>
            <a:ext cx="3220402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Baixa Prioridade (Futuro)</a:t>
            </a:r>
            <a:endParaRPr/>
          </a:p>
        </p:txBody>
      </p:sp>
      <p:sp>
        <p:nvSpPr>
          <p:cNvPr id="262" name="Google Shape;262;p19"/>
          <p:cNvSpPr txBox="1"/>
          <p:nvPr/>
        </p:nvSpPr>
        <p:spPr>
          <a:xfrm>
            <a:off x="8334375" y="2688431"/>
            <a:ext cx="30670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Telemedicina integrada, IA de apoio ao diagnóstico e agendamento online direto pelo paciente.</a:t>
            </a:r>
            <a:endParaRPr/>
          </a:p>
        </p:txBody>
      </p:sp>
      <p:sp>
        <p:nvSpPr>
          <p:cNvPr id="263" name="Google Shape;263;p19"/>
          <p:cNvSpPr txBox="1"/>
          <p:nvPr/>
        </p:nvSpPr>
        <p:spPr>
          <a:xfrm>
            <a:off x="790575" y="4388643"/>
            <a:ext cx="52101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Ambíguo:</a:t>
            </a:r>
            <a:r>
              <a:rPr b="0" i="0" lang="en-US" sz="135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 "O prontuário deve ser rápido de preencher."</a:t>
            </a:r>
            <a:endParaRPr/>
          </a:p>
        </p:txBody>
      </p:sp>
      <p:sp>
        <p:nvSpPr>
          <p:cNvPr id="264" name="Google Shape;264;p19"/>
          <p:cNvSpPr txBox="1"/>
          <p:nvPr/>
        </p:nvSpPr>
        <p:spPr>
          <a:xfrm>
            <a:off x="790575" y="4645818"/>
            <a:ext cx="52101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Ajustado:</a:t>
            </a:r>
            <a:r>
              <a:rPr b="0" i="0" lang="en-US" sz="1350" u="none" cap="none" strike="noStrik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 Abertura em &lt; 2s e preenchimento da anamnese com até 5 cliques usando modelos padrão.</a:t>
            </a:r>
            <a:endParaRPr/>
          </a:p>
        </p:txBody>
      </p:sp>
      <p:sp>
        <p:nvSpPr>
          <p:cNvPr id="265" name="Google Shape;265;p19"/>
          <p:cNvSpPr txBox="1"/>
          <p:nvPr/>
        </p:nvSpPr>
        <p:spPr>
          <a:xfrm>
            <a:off x="6191250" y="4388643"/>
            <a:ext cx="52101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Ambíguo:</a:t>
            </a:r>
            <a:r>
              <a:rPr b="0" i="0" lang="en-US" sz="135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 "O sistema deve diminuir as faltas de pacientes."</a:t>
            </a:r>
            <a:endParaRPr/>
          </a:p>
        </p:txBody>
      </p:sp>
      <p:sp>
        <p:nvSpPr>
          <p:cNvPr id="266" name="Google Shape;266;p19"/>
          <p:cNvSpPr txBox="1"/>
          <p:nvPr/>
        </p:nvSpPr>
        <p:spPr>
          <a:xfrm>
            <a:off x="6191250" y="4645818"/>
            <a:ext cx="52101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Ajustado:</a:t>
            </a:r>
            <a:r>
              <a:rPr b="0" i="0" lang="en-US" sz="1350" u="none" cap="none" strike="noStrik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 Disparo de mensagens no WhatsApp 48h e 24h antes, com confirmação via 1 toque.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1" name="Google Shape;2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2419350"/>
            <a:ext cx="5443537" cy="2495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062" y="2419350"/>
            <a:ext cx="5443537" cy="24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0"/>
          <p:cNvSpPr txBox="1"/>
          <p:nvPr/>
        </p:nvSpPr>
        <p:spPr>
          <a:xfrm>
            <a:off x="855166" y="438150"/>
            <a:ext cx="11336833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Benefícios &amp; Reflexões</a:t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>
            <a:off x="533400" y="904875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533400" y="6267450"/>
            <a:ext cx="111252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Sistema de Gestão de Clínica | Valor Entregue</a:t>
            </a:r>
            <a:endParaRPr/>
          </a:p>
        </p:txBody>
      </p:sp>
      <p:pic>
        <p:nvPicPr>
          <p:cNvPr descr="image.png" id="277" name="Google Shape;27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481012"/>
            <a:ext cx="20746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0575" y="2643187"/>
            <a:ext cx="16311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0"/>
          <p:cNvSpPr txBox="1"/>
          <p:nvPr/>
        </p:nvSpPr>
        <p:spPr>
          <a:xfrm>
            <a:off x="1067990" y="2638425"/>
            <a:ext cx="311273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Benefícios Diretos para a Clínica</a:t>
            </a:r>
            <a:endParaRPr/>
          </a:p>
        </p:txBody>
      </p:sp>
      <p:sp>
        <p:nvSpPr>
          <p:cNvPr id="280" name="Google Shape;280;p20"/>
          <p:cNvSpPr txBox="1"/>
          <p:nvPr/>
        </p:nvSpPr>
        <p:spPr>
          <a:xfrm>
            <a:off x="1057275" y="2952750"/>
            <a:ext cx="4662487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Queda expressiva no índice de faltas (no-show) de pacientes.</a:t>
            </a:r>
            <a:endParaRPr/>
          </a:p>
        </p:txBody>
      </p:sp>
      <p:sp>
        <p:nvSpPr>
          <p:cNvPr id="281" name="Google Shape;281;p20"/>
          <p:cNvSpPr txBox="1"/>
          <p:nvPr/>
        </p:nvSpPr>
        <p:spPr>
          <a:xfrm>
            <a:off x="1057275" y="3290887"/>
            <a:ext cx="4662487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Agilidade no atendimento e redução no tempo de espera.</a:t>
            </a:r>
            <a:endParaRPr/>
          </a:p>
        </p:txBody>
      </p:sp>
      <p:sp>
        <p:nvSpPr>
          <p:cNvPr id="282" name="Google Shape;282;p20"/>
          <p:cNvSpPr txBox="1"/>
          <p:nvPr/>
        </p:nvSpPr>
        <p:spPr>
          <a:xfrm>
            <a:off x="1057275" y="3629025"/>
            <a:ext cx="4662487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Eliminação de papel e ganho de espaço físico.</a:t>
            </a:r>
            <a:endParaRPr/>
          </a:p>
        </p:txBody>
      </p:sp>
      <p:sp>
        <p:nvSpPr>
          <p:cNvPr id="283" name="Google Shape;283;p20"/>
          <p:cNvSpPr txBox="1"/>
          <p:nvPr/>
        </p:nvSpPr>
        <p:spPr>
          <a:xfrm>
            <a:off x="1057275" y="3967162"/>
            <a:ext cx="4662487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Conformidade jurídica com LGPD e normas do CFM.</a:t>
            </a:r>
            <a:endParaRPr/>
          </a:p>
        </p:txBody>
      </p:sp>
      <p:sp>
        <p:nvSpPr>
          <p:cNvPr id="284" name="Google Shape;284;p20"/>
          <p:cNvSpPr txBox="1"/>
          <p:nvPr/>
        </p:nvSpPr>
        <p:spPr>
          <a:xfrm>
            <a:off x="1057275" y="4305300"/>
            <a:ext cx="4662487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Aumento no aproveitamento e faturamento das agendas.</a:t>
            </a:r>
            <a:endParaRPr/>
          </a:p>
        </p:txBody>
      </p:sp>
      <p:pic>
        <p:nvPicPr>
          <p:cNvPr descr="image.png" id="285" name="Google Shape;28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72237" y="2643187"/>
            <a:ext cx="16311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0"/>
          <p:cNvSpPr txBox="1"/>
          <p:nvPr/>
        </p:nvSpPr>
        <p:spPr>
          <a:xfrm>
            <a:off x="6749653" y="2638425"/>
            <a:ext cx="299006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Reflexões da Equipe de Projeto</a:t>
            </a:r>
            <a:endParaRPr/>
          </a:p>
        </p:txBody>
      </p:sp>
      <p:sp>
        <p:nvSpPr>
          <p:cNvPr id="287" name="Google Shape;287;p20"/>
          <p:cNvSpPr txBox="1"/>
          <p:nvPr/>
        </p:nvSpPr>
        <p:spPr>
          <a:xfrm>
            <a:off x="6738937" y="2952750"/>
            <a:ext cx="46624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Sensibilidade dos Dados: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Informações de saúde exigem rigor absoluto em LGPD e privacidade.</a:t>
            </a:r>
            <a:endParaRPr/>
          </a:p>
        </p:txBody>
      </p:sp>
      <p:sp>
        <p:nvSpPr>
          <p:cNvPr id="288" name="Google Shape;288;p20"/>
          <p:cNvSpPr txBox="1"/>
          <p:nvPr/>
        </p:nvSpPr>
        <p:spPr>
          <a:xfrm>
            <a:off x="6738937" y="3533775"/>
            <a:ext cx="46624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Usabilidade Médica: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 médico precisa focar no paciente; a interface deve ser limpa e rápida.</a:t>
            </a:r>
            <a:endParaRPr/>
          </a:p>
        </p:txBody>
      </p:sp>
      <p:sp>
        <p:nvSpPr>
          <p:cNvPr id="289" name="Google Shape;289;p20"/>
          <p:cNvSpPr txBox="1"/>
          <p:nvPr/>
        </p:nvSpPr>
        <p:spPr>
          <a:xfrm>
            <a:off x="6738937" y="4114800"/>
            <a:ext cx="46624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Gestão do Tempo: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Automação da confirmação resolve a principal dor financeira da clínica.</a:t>
            </a:r>
            <a:endParaRPr/>
          </a:p>
        </p:txBody>
      </p:sp>
      <p:pic>
        <p:nvPicPr>
          <p:cNvPr descr="image.png" id="290" name="Google Shape;290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0575" y="2971800"/>
            <a:ext cx="111174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0575" y="3309937"/>
            <a:ext cx="111174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0575" y="3648075"/>
            <a:ext cx="111174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0575" y="3986212"/>
            <a:ext cx="111174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0575" y="4324350"/>
            <a:ext cx="111174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72237" y="2971800"/>
            <a:ext cx="111174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72237" y="3552825"/>
            <a:ext cx="111174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72237" y="4133850"/>
            <a:ext cx="111174" cy="16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039601" cy="6732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